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Fraunces Extra Bold"/>
      <p:regular r:id="rId18"/>
    </p:embeddedFont>
    <p:embeddedFont>
      <p:font typeface="Fraunces Extra Bold"/>
      <p:regular r:id="rId19"/>
    </p:embeddedFont>
    <p:embeddedFont>
      <p:font typeface="Nobile"/>
      <p:regular r:id="rId20"/>
    </p:embeddedFont>
    <p:embeddedFont>
      <p:font typeface="Nobile"/>
      <p:regular r:id="rId21"/>
    </p:embeddedFont>
    <p:embeddedFont>
      <p:font typeface="Nobile"/>
      <p:regular r:id="rId22"/>
    </p:embeddedFont>
    <p:embeddedFont>
      <p:font typeface="Nobile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observatorio.javierfuenzam.com/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579727"/>
            <a:ext cx="2480072" cy="60936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352925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Observatorio Medioambiental Digital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528697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957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Quienes somos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623661"/>
            <a:ext cx="3879532" cy="31551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0339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Tomas Saavedra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326" y="2623661"/>
            <a:ext cx="3327321" cy="33616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32928" y="62404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Camilo Romero</a:t>
            </a:r>
            <a:endParaRPr lang="en-US" sz="2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067" y="2623661"/>
            <a:ext cx="3325297" cy="344995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872067" y="6328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Javier Fuenzalida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30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5333" y="3333155"/>
            <a:ext cx="3507224" cy="43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Nuestro proyecto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755333" y="3981926"/>
            <a:ext cx="6489740" cy="1155621"/>
          </a:xfrm>
          <a:prstGeom prst="roundRect">
            <a:avLst>
              <a:gd name="adj" fmla="val 6330"/>
            </a:avLst>
          </a:prstGeom>
          <a:solidFill>
            <a:srgbClr val="FAFFFA"/>
          </a:solidFill>
          <a:ln w="15240">
            <a:solidFill>
              <a:srgbClr val="AEE4B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0093" y="3981926"/>
            <a:ext cx="60960" cy="1155621"/>
          </a:xfrm>
          <a:prstGeom prst="roundRect">
            <a:avLst>
              <a:gd name="adj" fmla="val 207126"/>
            </a:avLst>
          </a:prstGeom>
          <a:solidFill>
            <a:srgbClr val="AEE4BD"/>
          </a:solidFill>
          <a:ln/>
        </p:spPr>
      </p:sp>
      <p:sp>
        <p:nvSpPr>
          <p:cNvPr id="6" name="Text 3"/>
          <p:cNvSpPr/>
          <p:nvPr/>
        </p:nvSpPr>
        <p:spPr>
          <a:xfrm>
            <a:off x="2884289" y="4137422"/>
            <a:ext cx="2277547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Problemas a Resolver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56548" y="4484370"/>
            <a:ext cx="6133028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Fragmentación de datos ambientales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56548" y="4757738"/>
            <a:ext cx="6133028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Dificultad de comprensión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85328" y="3981926"/>
            <a:ext cx="6489740" cy="1155621"/>
          </a:xfrm>
          <a:prstGeom prst="roundRect">
            <a:avLst>
              <a:gd name="adj" fmla="val 6330"/>
            </a:avLst>
          </a:prstGeom>
          <a:solidFill>
            <a:srgbClr val="FAFFFA"/>
          </a:solidFill>
          <a:ln w="15240">
            <a:solidFill>
              <a:srgbClr val="AEE4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70088" y="3981926"/>
            <a:ext cx="60960" cy="1155621"/>
          </a:xfrm>
          <a:prstGeom prst="roundRect">
            <a:avLst>
              <a:gd name="adj" fmla="val 207126"/>
            </a:avLst>
          </a:prstGeom>
          <a:solidFill>
            <a:srgbClr val="AEE4BD"/>
          </a:solidFill>
          <a:ln/>
        </p:spPr>
      </p:sp>
      <p:sp>
        <p:nvSpPr>
          <p:cNvPr id="11" name="Text 8"/>
          <p:cNvSpPr/>
          <p:nvPr/>
        </p:nvSpPr>
        <p:spPr>
          <a:xfrm>
            <a:off x="9600843" y="4137422"/>
            <a:ext cx="2104311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Solución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586543" y="4484370"/>
            <a:ext cx="6133028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Observatorio Medioambiental Digital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070271" y="5277803"/>
            <a:ext cx="6489740" cy="2249091"/>
          </a:xfrm>
          <a:prstGeom prst="roundRect">
            <a:avLst>
              <a:gd name="adj" fmla="val 3253"/>
            </a:avLst>
          </a:prstGeom>
          <a:solidFill>
            <a:srgbClr val="FAFFFA"/>
          </a:solidFill>
          <a:ln w="15240">
            <a:solidFill>
              <a:srgbClr val="AEE4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55031" y="5277803"/>
            <a:ext cx="60960" cy="2249091"/>
          </a:xfrm>
          <a:prstGeom prst="roundRect">
            <a:avLst>
              <a:gd name="adj" fmla="val 207126"/>
            </a:avLst>
          </a:prstGeom>
          <a:solidFill>
            <a:srgbClr val="AEE4BD"/>
          </a:solidFill>
          <a:ln/>
        </p:spPr>
      </p:sp>
      <p:sp>
        <p:nvSpPr>
          <p:cNvPr id="15" name="Text 12"/>
          <p:cNvSpPr/>
          <p:nvPr/>
        </p:nvSpPr>
        <p:spPr>
          <a:xfrm>
            <a:off x="6285786" y="5433298"/>
            <a:ext cx="2104311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Módulos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4271486" y="5780246"/>
            <a:ext cx="6133028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Plataforma web pública con datos.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271486" y="6053614"/>
            <a:ext cx="6133028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Mapas interactivos con filtros, buscador y comparaciones entre ciudades.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271486" y="6326981"/>
            <a:ext cx="6133028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API pública con datos limpios y organizados para facilitar integraciones externas.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271486" y="6600349"/>
            <a:ext cx="6133028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Generador de gráficos personalizados para investigadores, estudiantes y profesores.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271486" y="6873716"/>
            <a:ext cx="6133028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IA explicativa.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271486" y="7147084"/>
            <a:ext cx="6133028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Glosario de métricas y terminologia.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43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Metodologia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06786"/>
            <a:ext cx="13042821" cy="1315879"/>
          </a:xfrm>
          <a:prstGeom prst="roundRect">
            <a:avLst>
              <a:gd name="adj" fmla="val 1551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914406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2838" y="1914406"/>
            <a:ext cx="4341614" cy="650319"/>
          </a:xfrm>
          <a:prstGeom prst="roundRect">
            <a:avLst>
              <a:gd name="adj" fmla="val 31392"/>
            </a:avLst>
          </a:prstGeom>
          <a:solidFill>
            <a:srgbClr val="D1E7D2"/>
          </a:solidFill>
          <a:ln/>
        </p:spPr>
      </p:sp>
      <p:sp>
        <p:nvSpPr>
          <p:cNvPr id="6" name="Text 4"/>
          <p:cNvSpPr/>
          <p:nvPr/>
        </p:nvSpPr>
        <p:spPr>
          <a:xfrm>
            <a:off x="1029653" y="205811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Scrum Master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44453" y="1914406"/>
            <a:ext cx="4341614" cy="650319"/>
          </a:xfrm>
          <a:prstGeom prst="rect">
            <a:avLst/>
          </a:prstGeom>
          <a:solidFill>
            <a:srgbClr val="D1E7D2"/>
          </a:solidFill>
          <a:ln/>
        </p:spPr>
      </p:sp>
      <p:sp>
        <p:nvSpPr>
          <p:cNvPr id="8" name="Text 6"/>
          <p:cNvSpPr/>
          <p:nvPr/>
        </p:nvSpPr>
        <p:spPr>
          <a:xfrm>
            <a:off x="5375077" y="2058114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Product Owner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486067" y="1914406"/>
            <a:ext cx="4341614" cy="650319"/>
          </a:xfrm>
          <a:prstGeom prst="rect">
            <a:avLst/>
          </a:prstGeom>
          <a:solidFill>
            <a:srgbClr val="D1E7D2"/>
          </a:solidFill>
          <a:ln/>
        </p:spPr>
      </p:sp>
      <p:sp>
        <p:nvSpPr>
          <p:cNvPr id="10" name="Text 8"/>
          <p:cNvSpPr/>
          <p:nvPr/>
        </p:nvSpPr>
        <p:spPr>
          <a:xfrm>
            <a:off x="9716691" y="205811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Development Team Member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2564725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2838" y="2564725"/>
            <a:ext cx="4341614" cy="650319"/>
          </a:xfrm>
          <a:prstGeom prst="rect">
            <a:avLst/>
          </a:prstGeom>
          <a:solidFill>
            <a:srgbClr val="FAFF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29653" y="270843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Camilo Romero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44453" y="2564725"/>
            <a:ext cx="4341614" cy="650319"/>
          </a:xfrm>
          <a:prstGeom prst="rect">
            <a:avLst/>
          </a:prstGeom>
          <a:solidFill>
            <a:srgbClr val="FAFFFA"/>
          </a:solidFill>
          <a:ln/>
        </p:spPr>
      </p:sp>
      <p:sp>
        <p:nvSpPr>
          <p:cNvPr id="15" name="Text 13"/>
          <p:cNvSpPr/>
          <p:nvPr/>
        </p:nvSpPr>
        <p:spPr>
          <a:xfrm>
            <a:off x="5375077" y="2708434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Javier Fuenzalida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486067" y="2564725"/>
            <a:ext cx="4341614" cy="650319"/>
          </a:xfrm>
          <a:prstGeom prst="rect">
            <a:avLst/>
          </a:prstGeom>
          <a:solidFill>
            <a:srgbClr val="FAFFFA"/>
          </a:solidFill>
          <a:ln/>
        </p:spPr>
      </p:sp>
      <p:sp>
        <p:nvSpPr>
          <p:cNvPr id="17" name="Text 15"/>
          <p:cNvSpPr/>
          <p:nvPr/>
        </p:nvSpPr>
        <p:spPr>
          <a:xfrm>
            <a:off x="9716691" y="270843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Tomas Saavedra</a:t>
            </a:r>
            <a:endParaRPr lang="en-US" sz="17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732967"/>
            <a:ext cx="3496985" cy="3496985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321254" y="3851196"/>
            <a:ext cx="226814" cy="226814"/>
          </a:xfrm>
          <a:prstGeom prst="roundRect">
            <a:avLst>
              <a:gd name="adj" fmla="val 8063"/>
            </a:avLst>
          </a:prstGeom>
          <a:solidFill>
            <a:srgbClr val="19331E"/>
          </a:solidFill>
          <a:ln/>
        </p:spPr>
      </p:sp>
      <p:sp>
        <p:nvSpPr>
          <p:cNvPr id="20" name="Text 17"/>
          <p:cNvSpPr/>
          <p:nvPr/>
        </p:nvSpPr>
        <p:spPr>
          <a:xfrm>
            <a:off x="4609028" y="3851196"/>
            <a:ext cx="80105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Sprint 1</a:t>
            </a:r>
            <a:endParaRPr lang="en-US" sz="1750" dirty="0"/>
          </a:p>
        </p:txBody>
      </p:sp>
      <p:sp>
        <p:nvSpPr>
          <p:cNvPr id="21" name="Shape 18"/>
          <p:cNvSpPr/>
          <p:nvPr/>
        </p:nvSpPr>
        <p:spPr>
          <a:xfrm>
            <a:off x="4321254" y="4230410"/>
            <a:ext cx="226814" cy="226814"/>
          </a:xfrm>
          <a:prstGeom prst="roundRect">
            <a:avLst>
              <a:gd name="adj" fmla="val 8063"/>
            </a:avLst>
          </a:prstGeom>
          <a:solidFill>
            <a:srgbClr val="254B2C"/>
          </a:solidFill>
          <a:ln/>
        </p:spPr>
      </p:sp>
      <p:sp>
        <p:nvSpPr>
          <p:cNvPr id="22" name="Text 19"/>
          <p:cNvSpPr/>
          <p:nvPr/>
        </p:nvSpPr>
        <p:spPr>
          <a:xfrm>
            <a:off x="4609028" y="4230410"/>
            <a:ext cx="84081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Sprint 2</a:t>
            </a:r>
            <a:endParaRPr lang="en-US" sz="1750" dirty="0"/>
          </a:p>
        </p:txBody>
      </p:sp>
      <p:sp>
        <p:nvSpPr>
          <p:cNvPr id="23" name="Shape 20"/>
          <p:cNvSpPr/>
          <p:nvPr/>
        </p:nvSpPr>
        <p:spPr>
          <a:xfrm>
            <a:off x="4321254" y="4609624"/>
            <a:ext cx="226814" cy="226814"/>
          </a:xfrm>
          <a:prstGeom prst="roundRect">
            <a:avLst>
              <a:gd name="adj" fmla="val 8063"/>
            </a:avLst>
          </a:prstGeom>
          <a:solidFill>
            <a:srgbClr val="30623A"/>
          </a:solidFill>
          <a:ln/>
        </p:spPr>
      </p:sp>
      <p:sp>
        <p:nvSpPr>
          <p:cNvPr id="24" name="Text 21"/>
          <p:cNvSpPr/>
          <p:nvPr/>
        </p:nvSpPr>
        <p:spPr>
          <a:xfrm>
            <a:off x="4609028" y="4609624"/>
            <a:ext cx="8443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Sprint 3</a:t>
            </a:r>
            <a:endParaRPr lang="en-US" sz="1750" dirty="0"/>
          </a:p>
        </p:txBody>
      </p:sp>
      <p:sp>
        <p:nvSpPr>
          <p:cNvPr id="25" name="Shape 22"/>
          <p:cNvSpPr/>
          <p:nvPr/>
        </p:nvSpPr>
        <p:spPr>
          <a:xfrm>
            <a:off x="4321254" y="4988838"/>
            <a:ext cx="226814" cy="226814"/>
          </a:xfrm>
          <a:prstGeom prst="roundRect">
            <a:avLst>
              <a:gd name="adj" fmla="val 8063"/>
            </a:avLst>
          </a:prstGeom>
          <a:solidFill>
            <a:srgbClr val="3B7948"/>
          </a:solidFill>
          <a:ln/>
        </p:spPr>
      </p:sp>
      <p:sp>
        <p:nvSpPr>
          <p:cNvPr id="26" name="Text 23"/>
          <p:cNvSpPr/>
          <p:nvPr/>
        </p:nvSpPr>
        <p:spPr>
          <a:xfrm>
            <a:off x="4609028" y="4988838"/>
            <a:ext cx="85141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Sprint 4</a:t>
            </a:r>
            <a:endParaRPr lang="en-US" sz="1750" dirty="0"/>
          </a:p>
        </p:txBody>
      </p:sp>
      <p:sp>
        <p:nvSpPr>
          <p:cNvPr id="27" name="Shape 24"/>
          <p:cNvSpPr/>
          <p:nvPr/>
        </p:nvSpPr>
        <p:spPr>
          <a:xfrm>
            <a:off x="4321254" y="5368052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79155"/>
          </a:solidFill>
          <a:ln/>
        </p:spPr>
      </p:sp>
      <p:sp>
        <p:nvSpPr>
          <p:cNvPr id="28" name="Text 25"/>
          <p:cNvSpPr/>
          <p:nvPr/>
        </p:nvSpPr>
        <p:spPr>
          <a:xfrm>
            <a:off x="4609028" y="5368052"/>
            <a:ext cx="8407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Sprint 5</a:t>
            </a:r>
            <a:endParaRPr lang="en-US" sz="1750" dirty="0"/>
          </a:p>
        </p:txBody>
      </p:sp>
      <p:sp>
        <p:nvSpPr>
          <p:cNvPr id="29" name="Shape 26"/>
          <p:cNvSpPr/>
          <p:nvPr/>
        </p:nvSpPr>
        <p:spPr>
          <a:xfrm>
            <a:off x="4321254" y="5747266"/>
            <a:ext cx="226814" cy="226814"/>
          </a:xfrm>
          <a:prstGeom prst="roundRect">
            <a:avLst>
              <a:gd name="adj" fmla="val 8063"/>
            </a:avLst>
          </a:prstGeom>
          <a:solidFill>
            <a:srgbClr val="52A863"/>
          </a:solidFill>
          <a:ln/>
        </p:spPr>
      </p:sp>
      <p:sp>
        <p:nvSpPr>
          <p:cNvPr id="30" name="Text 27"/>
          <p:cNvSpPr/>
          <p:nvPr/>
        </p:nvSpPr>
        <p:spPr>
          <a:xfrm>
            <a:off x="4609028" y="5747266"/>
            <a:ext cx="8560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Sprint 6</a:t>
            </a:r>
            <a:endParaRPr lang="en-US" sz="1750" dirty="0"/>
          </a:p>
        </p:txBody>
      </p:sp>
      <p:sp>
        <p:nvSpPr>
          <p:cNvPr id="31" name="Shape 28"/>
          <p:cNvSpPr/>
          <p:nvPr/>
        </p:nvSpPr>
        <p:spPr>
          <a:xfrm>
            <a:off x="4321254" y="6126480"/>
            <a:ext cx="226814" cy="226814"/>
          </a:xfrm>
          <a:prstGeom prst="roundRect">
            <a:avLst>
              <a:gd name="adj" fmla="val 8063"/>
            </a:avLst>
          </a:prstGeom>
          <a:solidFill>
            <a:srgbClr val="68B577"/>
          </a:solidFill>
          <a:ln/>
        </p:spPr>
      </p:sp>
      <p:sp>
        <p:nvSpPr>
          <p:cNvPr id="32" name="Text 29"/>
          <p:cNvSpPr/>
          <p:nvPr/>
        </p:nvSpPr>
        <p:spPr>
          <a:xfrm>
            <a:off x="4609028" y="6126480"/>
            <a:ext cx="84391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Sprint 7</a:t>
            </a:r>
            <a:endParaRPr lang="en-US" sz="1750" dirty="0"/>
          </a:p>
        </p:txBody>
      </p:sp>
      <p:sp>
        <p:nvSpPr>
          <p:cNvPr id="33" name="Shape 30"/>
          <p:cNvSpPr/>
          <p:nvPr/>
        </p:nvSpPr>
        <p:spPr>
          <a:xfrm>
            <a:off x="4321254" y="6505694"/>
            <a:ext cx="226814" cy="226814"/>
          </a:xfrm>
          <a:prstGeom prst="roundRect">
            <a:avLst>
              <a:gd name="adj" fmla="val 8063"/>
            </a:avLst>
          </a:prstGeom>
          <a:solidFill>
            <a:srgbClr val="7FC08C"/>
          </a:solidFill>
          <a:ln/>
        </p:spPr>
      </p:sp>
      <p:sp>
        <p:nvSpPr>
          <p:cNvPr id="34" name="Text 31"/>
          <p:cNvSpPr/>
          <p:nvPr/>
        </p:nvSpPr>
        <p:spPr>
          <a:xfrm>
            <a:off x="4609028" y="6505694"/>
            <a:ext cx="8583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Sprint 8</a:t>
            </a:r>
            <a:endParaRPr lang="en-US" sz="1750" dirty="0"/>
          </a:p>
        </p:txBody>
      </p:sp>
      <p:sp>
        <p:nvSpPr>
          <p:cNvPr id="35" name="Shape 32"/>
          <p:cNvSpPr/>
          <p:nvPr/>
        </p:nvSpPr>
        <p:spPr>
          <a:xfrm>
            <a:off x="4321254" y="6884908"/>
            <a:ext cx="226814" cy="226814"/>
          </a:xfrm>
          <a:prstGeom prst="roundRect">
            <a:avLst>
              <a:gd name="adj" fmla="val 8063"/>
            </a:avLst>
          </a:prstGeom>
          <a:solidFill>
            <a:srgbClr val="96CCA1"/>
          </a:solidFill>
          <a:ln/>
        </p:spPr>
      </p:sp>
      <p:sp>
        <p:nvSpPr>
          <p:cNvPr id="36" name="Text 33"/>
          <p:cNvSpPr/>
          <p:nvPr/>
        </p:nvSpPr>
        <p:spPr>
          <a:xfrm>
            <a:off x="4609028" y="6884908"/>
            <a:ext cx="85653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Sprint 9</a:t>
            </a:r>
            <a:endParaRPr lang="en-US" sz="1750" dirty="0"/>
          </a:p>
        </p:txBody>
      </p:sp>
      <p:sp>
        <p:nvSpPr>
          <p:cNvPr id="37" name="Shape 34"/>
          <p:cNvSpPr/>
          <p:nvPr/>
        </p:nvSpPr>
        <p:spPr>
          <a:xfrm>
            <a:off x="5619750" y="5368052"/>
            <a:ext cx="226814" cy="226814"/>
          </a:xfrm>
          <a:prstGeom prst="roundRect">
            <a:avLst>
              <a:gd name="adj" fmla="val 8063"/>
            </a:avLst>
          </a:prstGeom>
          <a:solidFill>
            <a:srgbClr val="ADD7B6"/>
          </a:solidFill>
          <a:ln/>
        </p:spPr>
      </p:sp>
      <p:sp>
        <p:nvSpPr>
          <p:cNvPr id="38" name="Text 35"/>
          <p:cNvSpPr/>
          <p:nvPr/>
        </p:nvSpPr>
        <p:spPr>
          <a:xfrm>
            <a:off x="5907524" y="5368052"/>
            <a:ext cx="9510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Sprint 10</a:t>
            </a:r>
            <a:endParaRPr lang="en-US" sz="1750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3732967"/>
            <a:ext cx="6244709" cy="2816423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9484400" y="6549390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38951"/>
          </a:solidFill>
          <a:ln/>
        </p:spPr>
      </p:sp>
      <p:sp>
        <p:nvSpPr>
          <p:cNvPr id="41" name="Text 37"/>
          <p:cNvSpPr/>
          <p:nvPr/>
        </p:nvSpPr>
        <p:spPr>
          <a:xfrm>
            <a:off x="9772174" y="6549390"/>
            <a:ext cx="8734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Backlog</a:t>
            </a:r>
            <a:endParaRPr lang="en-US" sz="1750" dirty="0"/>
          </a:p>
        </p:txBody>
      </p:sp>
      <p:sp>
        <p:nvSpPr>
          <p:cNvPr id="42" name="Shape 38"/>
          <p:cNvSpPr/>
          <p:nvPr/>
        </p:nvSpPr>
        <p:spPr>
          <a:xfrm>
            <a:off x="10798016" y="6549390"/>
            <a:ext cx="226814" cy="226814"/>
          </a:xfrm>
          <a:prstGeom prst="roundRect">
            <a:avLst>
              <a:gd name="adj" fmla="val 8063"/>
            </a:avLst>
          </a:prstGeom>
          <a:solidFill>
            <a:srgbClr val="98CDA3"/>
          </a:solidFill>
          <a:ln/>
        </p:spPr>
      </p:sp>
      <p:sp>
        <p:nvSpPr>
          <p:cNvPr id="43" name="Text 39"/>
          <p:cNvSpPr/>
          <p:nvPr/>
        </p:nvSpPr>
        <p:spPr>
          <a:xfrm>
            <a:off x="11085790" y="6549390"/>
            <a:ext cx="109716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Desarrollo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1025" y="456486"/>
            <a:ext cx="2158127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Arquitectura</a:t>
            </a:r>
            <a:endParaRPr lang="en-US" sz="1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8575" y="888087"/>
            <a:ext cx="6953250" cy="68857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3426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Seguridad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731407"/>
            <a:ext cx="10351056" cy="303657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984790"/>
            <a:ext cx="7422833" cy="19761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7177802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5144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Modelo Canvas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93790" y="1910715"/>
            <a:ext cx="13042821" cy="1423868"/>
          </a:xfrm>
          <a:prstGeom prst="roundRect">
            <a:avLst>
              <a:gd name="adj" fmla="val 9319"/>
            </a:avLst>
          </a:prstGeom>
          <a:solidFill>
            <a:srgbClr val="E8F3E8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1910715"/>
            <a:ext cx="6521410" cy="1423868"/>
          </a:xfrm>
          <a:prstGeom prst="roundRect">
            <a:avLst>
              <a:gd name="adj" fmla="val 9319"/>
            </a:avLst>
          </a:prstGeom>
          <a:solidFill>
            <a:srgbClr val="E8F3E8"/>
          </a:solidFill>
          <a:ln/>
        </p:spPr>
      </p:sp>
      <p:sp>
        <p:nvSpPr>
          <p:cNvPr id="5" name="Text 3"/>
          <p:cNvSpPr/>
          <p:nvPr/>
        </p:nvSpPr>
        <p:spPr>
          <a:xfrm>
            <a:off x="941189" y="205811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Propuesta de Valor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41189" y="2376845"/>
            <a:ext cx="622661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Centralización de datos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41189" y="2664143"/>
            <a:ext cx="622661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Accesibilidad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41189" y="2951440"/>
            <a:ext cx="622661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Impacto social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0" y="1910715"/>
            <a:ext cx="6521410" cy="1423868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1910715"/>
            <a:ext cx="15240" cy="1423868"/>
          </a:xfrm>
          <a:prstGeom prst="roundRect">
            <a:avLst>
              <a:gd name="adj" fmla="val 870696"/>
            </a:avLst>
          </a:prstGeom>
          <a:solidFill>
            <a:srgbClr val="CED9CE"/>
          </a:solidFill>
          <a:ln/>
        </p:spPr>
      </p:sp>
      <p:sp>
        <p:nvSpPr>
          <p:cNvPr id="11" name="Text 9"/>
          <p:cNvSpPr/>
          <p:nvPr/>
        </p:nvSpPr>
        <p:spPr>
          <a:xfrm>
            <a:off x="7462599" y="2058114"/>
            <a:ext cx="1987391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Segmentos de Cliente</a:t>
            </a:r>
            <a:endParaRPr lang="en-US" sz="14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1054" y="2498646"/>
            <a:ext cx="82868" cy="11049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683698" y="245435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Primarios:</a:t>
            </a:r>
            <a:endParaRPr lang="en-US" sz="14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054" y="2894886"/>
            <a:ext cx="82868" cy="1104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83698" y="285059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Secundarios: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93790" y="3500438"/>
            <a:ext cx="13042821" cy="1998464"/>
          </a:xfrm>
          <a:prstGeom prst="roundRect">
            <a:avLst>
              <a:gd name="adj" fmla="val 6640"/>
            </a:avLst>
          </a:prstGeom>
          <a:solidFill>
            <a:srgbClr val="E8F3E8"/>
          </a:solidFill>
          <a:ln/>
        </p:spPr>
      </p:sp>
      <p:sp>
        <p:nvSpPr>
          <p:cNvPr id="17" name="Shape 13"/>
          <p:cNvSpPr/>
          <p:nvPr/>
        </p:nvSpPr>
        <p:spPr>
          <a:xfrm>
            <a:off x="793790" y="3500438"/>
            <a:ext cx="3260646" cy="1998464"/>
          </a:xfrm>
          <a:prstGeom prst="roundRect">
            <a:avLst>
              <a:gd name="adj" fmla="val 6640"/>
            </a:avLst>
          </a:prstGeom>
          <a:solidFill>
            <a:srgbClr val="E8F3E8"/>
          </a:solidFill>
          <a:ln/>
        </p:spPr>
      </p:sp>
      <p:sp>
        <p:nvSpPr>
          <p:cNvPr id="18" name="Text 14"/>
          <p:cNvSpPr/>
          <p:nvPr/>
        </p:nvSpPr>
        <p:spPr>
          <a:xfrm>
            <a:off x="941189" y="3647837"/>
            <a:ext cx="1995607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Relación con Clientes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941189" y="3966567"/>
            <a:ext cx="296584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Autoservicio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941189" y="4253865"/>
            <a:ext cx="296584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Soporte educativo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941189" y="4541163"/>
            <a:ext cx="296584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Feedback continuo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054435" y="3500438"/>
            <a:ext cx="3260765" cy="1998464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23" name="Shape 19"/>
          <p:cNvSpPr/>
          <p:nvPr/>
        </p:nvSpPr>
        <p:spPr>
          <a:xfrm>
            <a:off x="4054435" y="3500438"/>
            <a:ext cx="15240" cy="1998464"/>
          </a:xfrm>
          <a:prstGeom prst="roundRect">
            <a:avLst>
              <a:gd name="adj" fmla="val 870696"/>
            </a:avLst>
          </a:prstGeom>
          <a:solidFill>
            <a:srgbClr val="CED9CE"/>
          </a:solidFill>
          <a:ln/>
        </p:spPr>
      </p:sp>
      <p:sp>
        <p:nvSpPr>
          <p:cNvPr id="24" name="Text 20"/>
          <p:cNvSpPr/>
          <p:nvPr/>
        </p:nvSpPr>
        <p:spPr>
          <a:xfrm>
            <a:off x="4201835" y="364783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Canales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4201835" y="3966567"/>
            <a:ext cx="29659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Sitio web principal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4201835" y="4253865"/>
            <a:ext cx="29659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Medios de comunicación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201835" y="4541163"/>
            <a:ext cx="29659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Instituciones educativas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4201835" y="4828461"/>
            <a:ext cx="29659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Eventos académicos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4201835" y="5115758"/>
            <a:ext cx="29659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Alianzas gubernamentales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7315200" y="3500438"/>
            <a:ext cx="3260646" cy="1998464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31" name="Shape 27"/>
          <p:cNvSpPr/>
          <p:nvPr/>
        </p:nvSpPr>
        <p:spPr>
          <a:xfrm>
            <a:off x="7315200" y="3500438"/>
            <a:ext cx="15240" cy="1998464"/>
          </a:xfrm>
          <a:prstGeom prst="roundRect">
            <a:avLst>
              <a:gd name="adj" fmla="val 870696"/>
            </a:avLst>
          </a:prstGeom>
          <a:solidFill>
            <a:srgbClr val="CED9CE"/>
          </a:solidFill>
          <a:ln/>
        </p:spPr>
      </p:sp>
      <p:sp>
        <p:nvSpPr>
          <p:cNvPr id="32" name="Text 28"/>
          <p:cNvSpPr/>
          <p:nvPr/>
        </p:nvSpPr>
        <p:spPr>
          <a:xfrm>
            <a:off x="7462599" y="364783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Actividades Clave</a:t>
            </a:r>
            <a:endParaRPr lang="en-US" sz="1450" dirty="0"/>
          </a:p>
        </p:txBody>
      </p:sp>
      <p:sp>
        <p:nvSpPr>
          <p:cNvPr id="33" name="Text 29"/>
          <p:cNvSpPr/>
          <p:nvPr/>
        </p:nvSpPr>
        <p:spPr>
          <a:xfrm>
            <a:off x="7462599" y="3966567"/>
            <a:ext cx="296584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Desarrollo tecnológico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7462599" y="4253865"/>
            <a:ext cx="296584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Integración de datos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7462599" y="4541163"/>
            <a:ext cx="296584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Desarrollo de IA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7462599" y="4828461"/>
            <a:ext cx="296584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Gestión de partnerships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10575846" y="3500438"/>
            <a:ext cx="3260765" cy="1998464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38" name="Shape 34"/>
          <p:cNvSpPr/>
          <p:nvPr/>
        </p:nvSpPr>
        <p:spPr>
          <a:xfrm>
            <a:off x="10575846" y="3500438"/>
            <a:ext cx="15240" cy="1998464"/>
          </a:xfrm>
          <a:prstGeom prst="roundRect">
            <a:avLst>
              <a:gd name="adj" fmla="val 870696"/>
            </a:avLst>
          </a:prstGeom>
          <a:solidFill>
            <a:srgbClr val="CED9CE"/>
          </a:solidFill>
          <a:ln/>
        </p:spPr>
      </p:sp>
      <p:sp>
        <p:nvSpPr>
          <p:cNvPr id="39" name="Text 35"/>
          <p:cNvSpPr/>
          <p:nvPr/>
        </p:nvSpPr>
        <p:spPr>
          <a:xfrm>
            <a:off x="10723245" y="364783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Recursos Clave</a:t>
            </a:r>
            <a:endParaRPr lang="en-US" sz="1450" dirty="0"/>
          </a:p>
        </p:txBody>
      </p:sp>
      <p:sp>
        <p:nvSpPr>
          <p:cNvPr id="40" name="Text 36"/>
          <p:cNvSpPr/>
          <p:nvPr/>
        </p:nvSpPr>
        <p:spPr>
          <a:xfrm>
            <a:off x="10723245" y="3966567"/>
            <a:ext cx="29659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Equipo técnico</a:t>
            </a:r>
            <a:endParaRPr lang="en-US" sz="1150" dirty="0"/>
          </a:p>
        </p:txBody>
      </p:sp>
      <p:sp>
        <p:nvSpPr>
          <p:cNvPr id="41" name="Text 37"/>
          <p:cNvSpPr/>
          <p:nvPr/>
        </p:nvSpPr>
        <p:spPr>
          <a:xfrm>
            <a:off x="10723245" y="4253865"/>
            <a:ext cx="29659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Infraestructura tecnológica</a:t>
            </a:r>
            <a:endParaRPr lang="en-US" sz="1150" dirty="0"/>
          </a:p>
        </p:txBody>
      </p:sp>
      <p:sp>
        <p:nvSpPr>
          <p:cNvPr id="42" name="Text 38"/>
          <p:cNvSpPr/>
          <p:nvPr/>
        </p:nvSpPr>
        <p:spPr>
          <a:xfrm>
            <a:off x="10723245" y="4541163"/>
            <a:ext cx="29659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Alianzas institucionales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10723245" y="4828461"/>
            <a:ext cx="29659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Acceso a datos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10723245" y="5115758"/>
            <a:ext cx="29659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Marca y reputación</a:t>
            </a:r>
            <a:endParaRPr lang="en-US" sz="1150" dirty="0"/>
          </a:p>
        </p:txBody>
      </p:sp>
      <p:sp>
        <p:nvSpPr>
          <p:cNvPr id="45" name="Shape 41"/>
          <p:cNvSpPr/>
          <p:nvPr/>
        </p:nvSpPr>
        <p:spPr>
          <a:xfrm>
            <a:off x="793790" y="5664756"/>
            <a:ext cx="13042821" cy="1409581"/>
          </a:xfrm>
          <a:prstGeom prst="roundRect">
            <a:avLst>
              <a:gd name="adj" fmla="val 9414"/>
            </a:avLst>
          </a:prstGeom>
          <a:solidFill>
            <a:srgbClr val="E8F3E8"/>
          </a:solidFill>
          <a:ln/>
        </p:spPr>
      </p:sp>
      <p:sp>
        <p:nvSpPr>
          <p:cNvPr id="46" name="Shape 42"/>
          <p:cNvSpPr/>
          <p:nvPr/>
        </p:nvSpPr>
        <p:spPr>
          <a:xfrm>
            <a:off x="793790" y="5664756"/>
            <a:ext cx="4347567" cy="1409581"/>
          </a:xfrm>
          <a:prstGeom prst="roundRect">
            <a:avLst>
              <a:gd name="adj" fmla="val 9414"/>
            </a:avLst>
          </a:prstGeom>
          <a:solidFill>
            <a:srgbClr val="E8F3E8"/>
          </a:solidFill>
          <a:ln/>
        </p:spPr>
      </p:sp>
      <p:sp>
        <p:nvSpPr>
          <p:cNvPr id="47" name="Text 43"/>
          <p:cNvSpPr/>
          <p:nvPr/>
        </p:nvSpPr>
        <p:spPr>
          <a:xfrm>
            <a:off x="941189" y="581215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Socios Clave</a:t>
            </a:r>
            <a:endParaRPr lang="en-US" sz="1450" dirty="0"/>
          </a:p>
        </p:txBody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644" y="6255425"/>
            <a:ext cx="82868" cy="110490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1162288" y="6208395"/>
            <a:ext cx="147435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Estratégicos:</a:t>
            </a:r>
            <a:endParaRPr lang="en-US" sz="1150" dirty="0"/>
          </a:p>
        </p:txBody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644" y="6657023"/>
            <a:ext cx="82868" cy="110490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1162288" y="6609993"/>
            <a:ext cx="147435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Operacionales:</a:t>
            </a:r>
            <a:endParaRPr lang="en-US" sz="1150" dirty="0"/>
          </a:p>
        </p:txBody>
      </p:sp>
      <p:sp>
        <p:nvSpPr>
          <p:cNvPr id="52" name="Shape 46"/>
          <p:cNvSpPr/>
          <p:nvPr/>
        </p:nvSpPr>
        <p:spPr>
          <a:xfrm>
            <a:off x="5141357" y="5664756"/>
            <a:ext cx="4347567" cy="1409581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53" name="Shape 47"/>
          <p:cNvSpPr/>
          <p:nvPr/>
        </p:nvSpPr>
        <p:spPr>
          <a:xfrm>
            <a:off x="5141357" y="5664756"/>
            <a:ext cx="15240" cy="1409581"/>
          </a:xfrm>
          <a:prstGeom prst="roundRect">
            <a:avLst>
              <a:gd name="adj" fmla="val 870696"/>
            </a:avLst>
          </a:prstGeom>
          <a:solidFill>
            <a:srgbClr val="CED9CE"/>
          </a:solidFill>
          <a:ln/>
        </p:spPr>
      </p:sp>
      <p:sp>
        <p:nvSpPr>
          <p:cNvPr id="54" name="Text 48"/>
          <p:cNvSpPr/>
          <p:nvPr/>
        </p:nvSpPr>
        <p:spPr>
          <a:xfrm>
            <a:off x="5288756" y="5812155"/>
            <a:ext cx="1857256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Fuentes de Ingresos</a:t>
            </a:r>
            <a:endParaRPr lang="en-US" sz="1450" dirty="0"/>
          </a:p>
        </p:txBody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7211" y="6275665"/>
            <a:ext cx="82868" cy="110490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5509855" y="6208395"/>
            <a:ext cx="2973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Modelo actual (desarrollo):</a:t>
            </a:r>
            <a:endParaRPr lang="en-US" sz="1700" dirty="0"/>
          </a:p>
        </p:txBody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211" y="6717863"/>
            <a:ext cx="82868" cy="110490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5509855" y="6650593"/>
            <a:ext cx="2820114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Modelo futuro sostenible:</a:t>
            </a:r>
            <a:endParaRPr lang="en-US" sz="1700" dirty="0"/>
          </a:p>
        </p:txBody>
      </p:sp>
      <p:sp>
        <p:nvSpPr>
          <p:cNvPr id="59" name="Shape 51"/>
          <p:cNvSpPr/>
          <p:nvPr/>
        </p:nvSpPr>
        <p:spPr>
          <a:xfrm>
            <a:off x="9488924" y="5664756"/>
            <a:ext cx="4347567" cy="1409581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60" name="Shape 52"/>
          <p:cNvSpPr/>
          <p:nvPr/>
        </p:nvSpPr>
        <p:spPr>
          <a:xfrm>
            <a:off x="9488924" y="5664756"/>
            <a:ext cx="15240" cy="1409581"/>
          </a:xfrm>
          <a:prstGeom prst="roundRect">
            <a:avLst>
              <a:gd name="adj" fmla="val 870696"/>
            </a:avLst>
          </a:prstGeom>
          <a:solidFill>
            <a:srgbClr val="CED9CE"/>
          </a:solidFill>
          <a:ln/>
        </p:spPr>
      </p:sp>
      <p:sp>
        <p:nvSpPr>
          <p:cNvPr id="61" name="Text 53"/>
          <p:cNvSpPr/>
          <p:nvPr/>
        </p:nvSpPr>
        <p:spPr>
          <a:xfrm>
            <a:off x="9636323" y="5812155"/>
            <a:ext cx="1948101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Estructura de Costos</a:t>
            </a:r>
            <a:endParaRPr lang="en-US" sz="1450" dirty="0"/>
          </a:p>
        </p:txBody>
      </p:sp>
      <p:pic>
        <p:nvPicPr>
          <p:cNvPr id="6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4778" y="6275665"/>
            <a:ext cx="82868" cy="110490"/>
          </a:xfrm>
          <a:prstGeom prst="rect">
            <a:avLst/>
          </a:prstGeom>
        </p:spPr>
      </p:pic>
      <p:sp>
        <p:nvSpPr>
          <p:cNvPr id="63" name="Text 54"/>
          <p:cNvSpPr/>
          <p:nvPr/>
        </p:nvSpPr>
        <p:spPr>
          <a:xfrm>
            <a:off x="9857423" y="6208395"/>
            <a:ext cx="258401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Desarrollo y operación:</a:t>
            </a:r>
            <a:endParaRPr lang="en-US" sz="1700" dirty="0"/>
          </a:p>
        </p:txBody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4778" y="6717863"/>
            <a:ext cx="82868" cy="110490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9857423" y="6650593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Costos clave: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8545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As Is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8979" y="1842849"/>
            <a:ext cx="11912322" cy="56480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648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Demo prototipo</a:t>
            </a:r>
            <a:endParaRPr lang="en-US" sz="4450" dirty="0"/>
          </a:p>
        </p:txBody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4127302"/>
            <a:ext cx="13042821" cy="11374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4019"/>
            <a:ext cx="6989921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Validación del valor del proyecto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048941" y="1702118"/>
            <a:ext cx="12787670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"El trabajo que están haciendo han sido desafíos para la institucionalidad ambiental (…), están incorporando datos, inteligencia artificial y el proyecto que tienen es escalable"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48941" y="2437805"/>
            <a:ext cx="12787670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Ministerio del Medioambiente. División de Información y Economía Ambiental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3790" y="1510784"/>
            <a:ext cx="22860" cy="1390531"/>
          </a:xfrm>
          <a:prstGeom prst="rect">
            <a:avLst/>
          </a:prstGeom>
          <a:solidFill>
            <a:srgbClr val="43895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113" y="3092648"/>
            <a:ext cx="9782056" cy="44128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84967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Conclusión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93790" y="1629013"/>
            <a:ext cx="7556421" cy="1364694"/>
          </a:xfrm>
          <a:prstGeom prst="roundRect">
            <a:avLst>
              <a:gd name="adj" fmla="val 13463"/>
            </a:avLst>
          </a:prstGeom>
          <a:solidFill>
            <a:srgbClr val="E8F3E8"/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1629013"/>
            <a:ext cx="2518767" cy="1364694"/>
          </a:xfrm>
          <a:prstGeom prst="roundRect">
            <a:avLst>
              <a:gd name="adj" fmla="val 13463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997863" y="1833086"/>
            <a:ext cx="1804392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Fragmentación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312557" y="1629013"/>
            <a:ext cx="2518767" cy="1364694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8" name="Shape 5"/>
          <p:cNvSpPr/>
          <p:nvPr/>
        </p:nvSpPr>
        <p:spPr>
          <a:xfrm>
            <a:off x="3312557" y="1629013"/>
            <a:ext cx="22860" cy="1364694"/>
          </a:xfrm>
          <a:prstGeom prst="roundRect">
            <a:avLst>
              <a:gd name="adj" fmla="val 803720"/>
            </a:avLst>
          </a:prstGeom>
          <a:solidFill>
            <a:srgbClr val="CED9CE"/>
          </a:solidFill>
          <a:ln/>
        </p:spPr>
      </p:sp>
      <p:sp>
        <p:nvSpPr>
          <p:cNvPr id="9" name="Text 6"/>
          <p:cNvSpPr/>
          <p:nvPr/>
        </p:nvSpPr>
        <p:spPr>
          <a:xfrm>
            <a:off x="3822859" y="1833086"/>
            <a:ext cx="1498163" cy="95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Complejidad de los datos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057406" y="2056209"/>
            <a:ext cx="510302" cy="510302"/>
          </a:xfrm>
          <a:prstGeom prst="roundRect">
            <a:avLst>
              <a:gd name="adj" fmla="val 36004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84922" y="2183725"/>
            <a:ext cx="255151" cy="25515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831324" y="1629013"/>
            <a:ext cx="2518886" cy="1364694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3" name="Shape 9"/>
          <p:cNvSpPr/>
          <p:nvPr/>
        </p:nvSpPr>
        <p:spPr>
          <a:xfrm>
            <a:off x="5831324" y="1629013"/>
            <a:ext cx="22860" cy="1364694"/>
          </a:xfrm>
          <a:prstGeom prst="roundRect">
            <a:avLst>
              <a:gd name="adj" fmla="val 803720"/>
            </a:avLst>
          </a:prstGeom>
          <a:solidFill>
            <a:srgbClr val="CED9CE"/>
          </a:solidFill>
          <a:ln/>
        </p:spPr>
      </p:sp>
      <p:sp>
        <p:nvSpPr>
          <p:cNvPr id="14" name="Text 10"/>
          <p:cNvSpPr/>
          <p:nvPr/>
        </p:nvSpPr>
        <p:spPr>
          <a:xfrm>
            <a:off x="6341626" y="1833086"/>
            <a:ext cx="1804511" cy="95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Necesidad de mejora tecnológica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576173" y="2056209"/>
            <a:ext cx="510302" cy="510302"/>
          </a:xfrm>
          <a:prstGeom prst="roundRect">
            <a:avLst>
              <a:gd name="adj" fmla="val 36004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3689" y="2183725"/>
            <a:ext cx="255151" cy="2551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3790" y="3406973"/>
            <a:ext cx="312646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endParaRPr lang="en-US" sz="16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1150" y="3452813"/>
            <a:ext cx="276582" cy="3159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38750" y="3406973"/>
            <a:ext cx="312646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93790" y="4304467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Observatorio Medioambiental Digital</a:t>
            </a:r>
            <a:endParaRPr lang="en-US" sz="4000" dirty="0"/>
          </a:p>
        </p:txBody>
      </p:sp>
      <p:sp>
        <p:nvSpPr>
          <p:cNvPr id="21" name="Shape 15"/>
          <p:cNvSpPr/>
          <p:nvPr/>
        </p:nvSpPr>
        <p:spPr>
          <a:xfrm>
            <a:off x="793790" y="5886450"/>
            <a:ext cx="3676174" cy="726996"/>
          </a:xfrm>
          <a:prstGeom prst="roundRect">
            <a:avLst>
              <a:gd name="adj" fmla="val 25273"/>
            </a:avLst>
          </a:prstGeom>
          <a:solidFill>
            <a:srgbClr val="E8F3E8"/>
          </a:solidFill>
          <a:ln/>
        </p:spPr>
      </p:sp>
      <p:sp>
        <p:nvSpPr>
          <p:cNvPr id="22" name="Text 16"/>
          <p:cNvSpPr/>
          <p:nvPr/>
        </p:nvSpPr>
        <p:spPr>
          <a:xfrm>
            <a:off x="997863" y="609052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Democratización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4674037" y="5886450"/>
            <a:ext cx="3676174" cy="726996"/>
          </a:xfrm>
          <a:prstGeom prst="roundRect">
            <a:avLst>
              <a:gd name="adj" fmla="val 25273"/>
            </a:avLst>
          </a:prstGeom>
          <a:solidFill>
            <a:srgbClr val="E8F3E8"/>
          </a:solidFill>
          <a:ln/>
        </p:spPr>
      </p:sp>
      <p:sp>
        <p:nvSpPr>
          <p:cNvPr id="24" name="Text 18"/>
          <p:cNvSpPr/>
          <p:nvPr/>
        </p:nvSpPr>
        <p:spPr>
          <a:xfrm>
            <a:off x="4878110" y="609052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Centralización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793790" y="6817519"/>
            <a:ext cx="7556421" cy="726996"/>
          </a:xfrm>
          <a:prstGeom prst="roundRect">
            <a:avLst>
              <a:gd name="adj" fmla="val 25273"/>
            </a:avLst>
          </a:prstGeom>
          <a:solidFill>
            <a:srgbClr val="E8F3E8"/>
          </a:solidFill>
          <a:ln/>
        </p:spPr>
      </p:sp>
      <p:sp>
        <p:nvSpPr>
          <p:cNvPr id="26" name="Text 20"/>
          <p:cNvSpPr/>
          <p:nvPr/>
        </p:nvSpPr>
        <p:spPr>
          <a:xfrm>
            <a:off x="997863" y="702159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Mejora tecnológica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2025-12-02T02:10:38Z</dcterms:created>
  <dcterms:modified xsi:type="dcterms:W3CDTF">2025-12-02T02:10:38Z</dcterms:modified>
</cp:coreProperties>
</file>