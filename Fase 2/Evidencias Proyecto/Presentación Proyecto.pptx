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4630400" cy="8229600"/>
  <p:notesSz cx="8229600" cy="14630400"/>
  <p:embeddedFontLst>
    <p:embeddedFont>
      <p:font typeface="Inter"/>
      <p:regular r:id="rId20"/>
    </p:embeddedFont>
    <p:embeddedFont>
      <p:font typeface="Inter"/>
      <p:regular r:id="rId21"/>
    </p:embeddedFont>
    <p:embeddedFont>
      <p:font typeface="Inter"/>
      <p:regular r:id="rId22"/>
    </p:embeddedFont>
    <p:embeddedFont>
      <p:font typeface="Inter"/>
      <p:regular r:id="rId23"/>
    </p:embeddedFont>
    <p:embeddedFont>
      <p:font typeface="Roboto"/>
      <p:regular r:id="rId24"/>
    </p:embeddedFont>
    <p:embeddedFont>
      <p:font typeface="Roboto"/>
      <p:regular r:id="rId25"/>
    </p:embeddedFont>
    <p:embeddedFont>
      <p:font typeface="Roboto"/>
      <p:regular r:id="rId26"/>
    </p:embeddedFont>
    <p:embeddedFont>
      <p:font typeface="Roboto"/>
      <p:regular r:id="rId2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font" Target="fonts/font1.fntdata"/><Relationship Id="rId21" Type="http://schemas.openxmlformats.org/officeDocument/2006/relationships/font" Target="fonts/font2.fntdata"/><Relationship Id="rId22" Type="http://schemas.openxmlformats.org/officeDocument/2006/relationships/font" Target="fonts/font3.fntdata"/><Relationship Id="rId23" Type="http://schemas.openxmlformats.org/officeDocument/2006/relationships/font" Target="fonts/font4.fntdata"/><Relationship Id="rId24" Type="http://schemas.openxmlformats.org/officeDocument/2006/relationships/font" Target="fonts/font5.fntdata"/><Relationship Id="rId25" Type="http://schemas.openxmlformats.org/officeDocument/2006/relationships/font" Target="fonts/font6.fntdata"/><Relationship Id="rId26" Type="http://schemas.openxmlformats.org/officeDocument/2006/relationships/font" Target="fonts/font7.fntdata"/><Relationship Id="rId27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3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3-1.png"/><Relationship Id="rId3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4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observatorio.javierfuenzam.com/" TargetMode="Externa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0"/>
            <a:ext cx="603504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1607225"/>
            <a:ext cx="2480072" cy="60936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2556748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Proyecto Capstone: Observatorio Medioambiental Digital</a:t>
            </a:r>
            <a:endParaRPr lang="en-US" sz="4450" dirty="0"/>
          </a:p>
        </p:txBody>
      </p:sp>
      <p:sp>
        <p:nvSpPr>
          <p:cNvPr id="5" name="Text 1"/>
          <p:cNvSpPr/>
          <p:nvPr/>
        </p:nvSpPr>
        <p:spPr>
          <a:xfrm>
            <a:off x="793790" y="502324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Camilo Romero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793790" y="564130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Tomas Saavedra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793790" y="625935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Javier Fuenzalida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33910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996327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Propuesta Inicial</a:t>
            </a:r>
            <a:endParaRPr lang="en-US" sz="2650" dirty="0"/>
          </a:p>
        </p:txBody>
      </p:sp>
      <p:sp>
        <p:nvSpPr>
          <p:cNvPr id="4" name="Shape 1"/>
          <p:cNvSpPr/>
          <p:nvPr/>
        </p:nvSpPr>
        <p:spPr>
          <a:xfrm>
            <a:off x="793790" y="3676769"/>
            <a:ext cx="4234220" cy="3682960"/>
          </a:xfrm>
          <a:prstGeom prst="roundRect">
            <a:avLst>
              <a:gd name="adj" fmla="val 1940"/>
            </a:avLst>
          </a:prstGeom>
          <a:solidFill>
            <a:srgbClr val="FFEFCC"/>
          </a:solidFill>
          <a:ln w="7620">
            <a:solidFill>
              <a:srgbClr val="E5D5B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71431" y="3854410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Problema a Resolver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971431" y="4222194"/>
            <a:ext cx="3878937" cy="1633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página web del INE contiene información valiosa sobre métricas para medir el estado del medioambiente. Sin embargo, la plataforma presenta una interfaz poco intuitiva y no permite realizar análisis de datos sin recurrir a herramientas externas.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198031" y="3676769"/>
            <a:ext cx="4234220" cy="3682960"/>
          </a:xfrm>
          <a:prstGeom prst="roundRect">
            <a:avLst>
              <a:gd name="adj" fmla="val 1940"/>
            </a:avLst>
          </a:prstGeom>
          <a:solidFill>
            <a:srgbClr val="FFEFCC"/>
          </a:solidFill>
          <a:ln w="7620">
            <a:solidFill>
              <a:srgbClr val="E5D5B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75672" y="3854410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Solución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5375672" y="4222194"/>
            <a:ext cx="3878937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observatorio medioambiental digital permitirá a los usuarios analizar datos sin necesidad de herramientas externas. Esta plataforma facilitará la revisión de información de manera más intuitiva y accesible, permitiendo incluso que personas sin conocimientos técnicos puedan comprender e interpretar métricas y mediciones medioambientales.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602272" y="3676769"/>
            <a:ext cx="4234220" cy="3682960"/>
          </a:xfrm>
          <a:prstGeom prst="roundRect">
            <a:avLst>
              <a:gd name="adj" fmla="val 1940"/>
            </a:avLst>
          </a:prstGeom>
          <a:solidFill>
            <a:srgbClr val="FFEFCC"/>
          </a:solidFill>
          <a:ln w="7620">
            <a:solidFill>
              <a:srgbClr val="E5D5B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779913" y="3854410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Modulos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9779913" y="4222194"/>
            <a:ext cx="3878937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Plataforma web pública y responsiva con datos históricos y proyecciones.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779913" y="4826079"/>
            <a:ext cx="3878937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Mapas interactivos con filtros, buscador y comparaciones entre ciudades.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779913" y="5429964"/>
            <a:ext cx="3878937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Modelos predictivos para estimar calidad del aire y agua.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779913" y="6033849"/>
            <a:ext cx="3878937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API pública con datos limpios y organizados para facilitar integraciones externas.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779913" y="6637734"/>
            <a:ext cx="3878937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Generador de gráficos personalizados para investigadores, estudiantes y profesores.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49993"/>
            <a:ext cx="10402372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Avances Según los Sprints: Ritmo y Resultados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75713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Cada sprint ha generado valor incremental medible. Hemos alcanzado un avance que nos acerca cada vez mas al producto final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37518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3730228"/>
            <a:ext cx="4196358" cy="30480"/>
          </a:xfrm>
          <a:prstGeom prst="rect">
            <a:avLst/>
          </a:prstGeom>
          <a:solidFill>
            <a:srgbClr val="317DE2"/>
          </a:solidFill>
          <a:ln/>
        </p:spPr>
      </p:sp>
      <p:sp>
        <p:nvSpPr>
          <p:cNvPr id="6" name="Text 4"/>
          <p:cNvSpPr/>
          <p:nvPr/>
        </p:nvSpPr>
        <p:spPr>
          <a:xfrm>
            <a:off x="793790" y="39045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Sprint 1-2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4394954"/>
            <a:ext cx="419635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Fundamentos técnicos, configuración del entorno de desarrollo establecidos, incluyendo pipelines de CI/CD. Creacion de un modelo de BD que permite guardar los datos necesarios para el proyecto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5216962" y="337518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6962" y="3730228"/>
            <a:ext cx="4196358" cy="30480"/>
          </a:xfrm>
          <a:prstGeom prst="rect">
            <a:avLst/>
          </a:prstGeom>
          <a:solidFill>
            <a:srgbClr val="317DE2"/>
          </a:solidFill>
          <a:ln/>
        </p:spPr>
      </p:sp>
      <p:sp>
        <p:nvSpPr>
          <p:cNvPr id="10" name="Text 8"/>
          <p:cNvSpPr/>
          <p:nvPr/>
        </p:nvSpPr>
        <p:spPr>
          <a:xfrm>
            <a:off x="5216962" y="39045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Sprint 3-4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216962" y="4394954"/>
            <a:ext cx="419635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Creacion de una api que permita alimentar el frontend. Mockup del frontend para establecer el layout de la pagina. 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9640133" y="337518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640133" y="3730228"/>
            <a:ext cx="4196358" cy="30480"/>
          </a:xfrm>
          <a:prstGeom prst="rect">
            <a:avLst/>
          </a:prstGeom>
          <a:solidFill>
            <a:srgbClr val="317DE2"/>
          </a:solidFill>
          <a:ln/>
        </p:spPr>
      </p:sp>
      <p:sp>
        <p:nvSpPr>
          <p:cNvPr id="14" name="Text 12"/>
          <p:cNvSpPr/>
          <p:nvPr/>
        </p:nvSpPr>
        <p:spPr>
          <a:xfrm>
            <a:off x="9640133" y="39045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Sprint 5-7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640133" y="4394954"/>
            <a:ext cx="419635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Desarrollo del front end, de un mapa interactivo que consume datos desde la API y modulo de creacion de graficos interactivos conectados al backend.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545" y="584240"/>
            <a:ext cx="7850267" cy="663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Como manejamos los avances</a:t>
            </a:r>
            <a:endParaRPr lang="en-US" sz="4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4079" y="1672947"/>
            <a:ext cx="12222242" cy="53944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3545" y="7306389"/>
            <a:ext cx="13143309" cy="339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0"/>
            <a:ext cx="603504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836182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Reajustes y Problemas: Aprendiendo y Adaptando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793790" y="3310295"/>
            <a:ext cx="3664744" cy="3083123"/>
          </a:xfrm>
          <a:prstGeom prst="roundRect">
            <a:avLst>
              <a:gd name="adj" fmla="val 3090"/>
            </a:avLst>
          </a:prstGeom>
          <a:solidFill>
            <a:srgbClr val="FFFFFF"/>
          </a:solidFill>
          <a:ln w="30480">
            <a:solidFill>
              <a:srgbClr val="E5D5B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51084" y="3567589"/>
            <a:ext cx="315015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Obstáculos Identificados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51084" y="4412337"/>
            <a:ext cx="31501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Web Scraper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051084" y="4911328"/>
            <a:ext cx="31501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Comunicación con posibles stakeholders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051084" y="5773222"/>
            <a:ext cx="31501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Tiempo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4685348" y="3310295"/>
            <a:ext cx="3664863" cy="3083123"/>
          </a:xfrm>
          <a:prstGeom prst="roundRect">
            <a:avLst>
              <a:gd name="adj" fmla="val 3090"/>
            </a:avLst>
          </a:prstGeom>
          <a:solidFill>
            <a:srgbClr val="FFFFFF"/>
          </a:solidFill>
          <a:ln w="30480">
            <a:solidFill>
              <a:srgbClr val="E5D5B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42642" y="35675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Cambios Adaptados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942642" y="4058007"/>
            <a:ext cx="31502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Ajustes en prioridades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4942642" y="4556998"/>
            <a:ext cx="315027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Implementacion de modulos de IA en remplazo de los modelos predictivos de ML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868" y="520660"/>
            <a:ext cx="3214926" cy="401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Arquitectura</a:t>
            </a:r>
            <a:endParaRPr lang="en-US" sz="2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6528" y="1163598"/>
            <a:ext cx="9237226" cy="58181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868" y="7307104"/>
            <a:ext cx="515576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217444" y="7307104"/>
            <a:ext cx="221051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8827770" y="7307104"/>
            <a:ext cx="515576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71393"/>
            <a:ext cx="5103614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Pagina actual ine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5895" y="1717596"/>
            <a:ext cx="11738491" cy="5284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7231499"/>
            <a:ext cx="13042821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40437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Mockups</a:t>
            </a:r>
            <a:endParaRPr lang="en-US" sz="2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4113" y="1320879"/>
            <a:ext cx="9782056" cy="4456867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4113" y="5969079"/>
            <a:ext cx="9782056" cy="162008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2007" y="756761"/>
            <a:ext cx="11086386" cy="506503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007" y="6038612"/>
            <a:ext cx="11086386" cy="143422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1714" y="1010126"/>
            <a:ext cx="10066973" cy="620934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957274"/>
            <a:ext cx="610302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Demo producto actual</a:t>
            </a:r>
            <a:endParaRPr lang="en-US" sz="4450" dirty="0"/>
          </a:p>
        </p:txBody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4119682"/>
            <a:ext cx="13042821" cy="115264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3504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686163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Próximos Pasos 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6535341" y="2593300"/>
            <a:ext cx="30480" cy="3404711"/>
          </a:xfrm>
          <a:prstGeom prst="roundRect">
            <a:avLst>
              <a:gd name="adj" fmla="val 312558"/>
            </a:avLst>
          </a:prstGeom>
          <a:solidFill>
            <a:srgbClr val="E5D5B2"/>
          </a:solidFill>
          <a:ln/>
        </p:spPr>
      </p:sp>
      <p:sp>
        <p:nvSpPr>
          <p:cNvPr id="5" name="Shape 2"/>
          <p:cNvSpPr/>
          <p:nvPr/>
        </p:nvSpPr>
        <p:spPr>
          <a:xfrm>
            <a:off x="6760012" y="2833211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E5D5B2"/>
          </a:solidFill>
          <a:ln/>
        </p:spPr>
      </p:sp>
      <p:sp>
        <p:nvSpPr>
          <p:cNvPr id="6" name="Shape 3"/>
          <p:cNvSpPr/>
          <p:nvPr/>
        </p:nvSpPr>
        <p:spPr>
          <a:xfrm>
            <a:off x="6280190" y="259330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EFCC"/>
          </a:solidFill>
          <a:ln w="7620">
            <a:solidFill>
              <a:srgbClr val="E5D5B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365260" y="263580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7669411" y="26711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Sprint 8-9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669411" y="3161586"/>
            <a:ext cx="61671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Modulos de autenticación. Módulos de IA conectados a agentes n8n. Pulir desarrollo de sprints anteriores. Terminar API publica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760012" y="4943832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E5D5B2"/>
          </a:solidFill>
          <a:ln/>
        </p:spPr>
      </p:sp>
      <p:sp>
        <p:nvSpPr>
          <p:cNvPr id="11" name="Shape 8"/>
          <p:cNvSpPr/>
          <p:nvPr/>
        </p:nvSpPr>
        <p:spPr>
          <a:xfrm>
            <a:off x="6280190" y="470392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EFCC"/>
          </a:solidFill>
          <a:ln w="7620">
            <a:solidFill>
              <a:srgbClr val="E5D5B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65260" y="4746427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650" dirty="0"/>
          </a:p>
        </p:txBody>
      </p:sp>
      <p:sp>
        <p:nvSpPr>
          <p:cNvPr id="13" name="Text 10"/>
          <p:cNvSpPr/>
          <p:nvPr/>
        </p:nvSpPr>
        <p:spPr>
          <a:xfrm>
            <a:off x="7669411" y="47817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Sprint 10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669411" y="5272207"/>
            <a:ext cx="61671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Cierre del proyecto, documentación final y testing completo del sistema.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6280190" y="6253163"/>
            <a:ext cx="75564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0"/>
            <a:ext cx="603504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94993"/>
            <a:ext cx="7556421" cy="1204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Conclusión: Compromiso y Visión Compartida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1082993" y="2605921"/>
            <a:ext cx="7267218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Hemos tenido grandes avances.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Pero se necesitan ajustar detalles y agregar el modulo de IA, de autenticación y la API Publica. 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793790" y="2389108"/>
            <a:ext cx="22860" cy="1050369"/>
          </a:xfrm>
          <a:prstGeom prst="rect">
            <a:avLst/>
          </a:prstGeom>
          <a:solidFill>
            <a:srgbClr val="FEB720"/>
          </a:solidFill>
          <a:ln/>
        </p:spPr>
      </p:sp>
      <p:sp>
        <p:nvSpPr>
          <p:cNvPr id="6" name="Shape 3"/>
          <p:cNvSpPr/>
          <p:nvPr/>
        </p:nvSpPr>
        <p:spPr>
          <a:xfrm>
            <a:off x="793790" y="3656290"/>
            <a:ext cx="3681770" cy="1434346"/>
          </a:xfrm>
          <a:prstGeom prst="roundRect">
            <a:avLst>
              <a:gd name="adj" fmla="val 32261"/>
            </a:avLst>
          </a:prstGeom>
          <a:solidFill>
            <a:srgbClr val="FFEFCC"/>
          </a:solidFill>
          <a:ln w="7620">
            <a:solidFill>
              <a:srgbClr val="E5D5B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94172" y="3856672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Logros Alcanzados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994172" y="4273510"/>
            <a:ext cx="3281005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prototipo con funcionalidades avanzadas.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668322" y="3656290"/>
            <a:ext cx="3681889" cy="1434346"/>
          </a:xfrm>
          <a:prstGeom prst="roundRect">
            <a:avLst>
              <a:gd name="adj" fmla="val 32261"/>
            </a:avLst>
          </a:prstGeom>
          <a:solidFill>
            <a:srgbClr val="FFEFCC"/>
          </a:solidFill>
          <a:ln w="7620">
            <a:solidFill>
              <a:srgbClr val="E5D5B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68704" y="3856672"/>
            <a:ext cx="2696051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Colaboración Continua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4868704" y="4273510"/>
            <a:ext cx="3281124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Como equipo hemos podido trabajar colaborando continuamente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93790" y="5283398"/>
            <a:ext cx="7556421" cy="2051090"/>
          </a:xfrm>
          <a:prstGeom prst="roundRect">
            <a:avLst>
              <a:gd name="adj" fmla="val 22560"/>
            </a:avLst>
          </a:prstGeom>
          <a:solidFill>
            <a:srgbClr val="FFEFCC"/>
          </a:solidFill>
          <a:ln w="7620">
            <a:solidFill>
              <a:srgbClr val="E5D5B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94172" y="5483781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Visión Futura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994172" y="5900618"/>
            <a:ext cx="7155656" cy="1233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Creemos que la aplicación puede convertirse en una herramienta fundamental. Si logramos establecer una alianza con el INE, este proyecto podría tener un impacto significativo en la democratización del acceso a la información medioambiental en nuestro país.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2025-10-21T02:11:02Z</dcterms:created>
  <dcterms:modified xsi:type="dcterms:W3CDTF">2025-10-21T02:11:02Z</dcterms:modified>
</cp:coreProperties>
</file>